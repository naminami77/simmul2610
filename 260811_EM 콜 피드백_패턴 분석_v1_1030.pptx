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0"/>
  </p:notesMasterIdLst>
  <p:sldIdLst>
    <p:sldId id="2937" r:id="rId2"/>
    <p:sldId id="3725" r:id="rId3"/>
    <p:sldId id="3708" r:id="rId4"/>
    <p:sldId id="3709" r:id="rId5"/>
    <p:sldId id="3710" r:id="rId6"/>
    <p:sldId id="3711" r:id="rId7"/>
    <p:sldId id="3712" r:id="rId8"/>
    <p:sldId id="3713" r:id="rId9"/>
    <p:sldId id="3714" r:id="rId10"/>
    <p:sldId id="3715" r:id="rId11"/>
    <p:sldId id="3718" r:id="rId12"/>
    <p:sldId id="3719" r:id="rId13"/>
    <p:sldId id="3720" r:id="rId14"/>
    <p:sldId id="3721" r:id="rId15"/>
    <p:sldId id="3722" r:id="rId16"/>
    <p:sldId id="3728" r:id="rId17"/>
    <p:sldId id="3723" r:id="rId18"/>
    <p:sldId id="3368" r:id="rId19"/>
  </p:sldIdLst>
  <p:sldSz cx="9144000" cy="6858000" type="screen4x3"/>
  <p:notesSz cx="6735763" cy="9866313"/>
  <p:custDataLst>
    <p:tags r:id="rId21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F5D30D4-7166-4DE9-9B9E-C26391949E61}">
          <p14:sldIdLst>
            <p14:sldId id="2937"/>
            <p14:sldId id="3725"/>
            <p14:sldId id="3708"/>
            <p14:sldId id="3709"/>
            <p14:sldId id="3710"/>
            <p14:sldId id="3711"/>
            <p14:sldId id="3712"/>
            <p14:sldId id="3713"/>
            <p14:sldId id="3714"/>
            <p14:sldId id="3715"/>
            <p14:sldId id="3718"/>
            <p14:sldId id="3719"/>
            <p14:sldId id="3720"/>
            <p14:sldId id="3721"/>
            <p14:sldId id="3722"/>
            <p14:sldId id="3728"/>
            <p14:sldId id="3723"/>
            <p14:sldId id="3368"/>
          </p14:sldIdLst>
        </p14:section>
      </p14:sectionLst>
    </p:ext>
    <p:ext uri="{EFAFB233-063F-42B5-8137-9DF3F51BA10A}">
      <p15:sldGuideLst xmlns:p15="http://schemas.microsoft.com/office/powerpoint/2012/main">
        <p15:guide id="7" orient="horz" pos="913" userDrawn="1">
          <p15:clr>
            <a:srgbClr val="A4A3A4"/>
          </p15:clr>
        </p15:guide>
        <p15:guide id="11" pos="158" userDrawn="1">
          <p15:clr>
            <a:srgbClr val="A4A3A4"/>
          </p15:clr>
        </p15:guide>
        <p15:guide id="14" orient="horz" pos="4088" userDrawn="1">
          <p15:clr>
            <a:srgbClr val="A4A3A4"/>
          </p15:clr>
        </p15:guide>
        <p15:guide id="15" orient="horz" pos="1230" userDrawn="1">
          <p15:clr>
            <a:srgbClr val="A4A3A4"/>
          </p15:clr>
        </p15:guide>
        <p15:guide id="21" pos="5602" userDrawn="1">
          <p15:clr>
            <a:srgbClr val="A4A3A4"/>
          </p15:clr>
        </p15:guide>
        <p15:guide id="25" pos="2699" userDrawn="1">
          <p15:clr>
            <a:srgbClr val="A4A3A4"/>
          </p15:clr>
        </p15:guide>
        <p15:guide id="27" pos="30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1717"/>
    <a:srgbClr val="364086"/>
    <a:srgbClr val="858274"/>
    <a:srgbClr val="ADABA1"/>
    <a:srgbClr val="77823C"/>
    <a:srgbClr val="FFDB6D"/>
    <a:srgbClr val="210E5F"/>
    <a:srgbClr val="EFEEEC"/>
    <a:srgbClr val="16A085"/>
    <a:srgbClr val="F39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8" autoAdjust="0"/>
    <p:restoredTop sz="96469" autoAdjust="0"/>
  </p:normalViewPr>
  <p:slideViewPr>
    <p:cSldViewPr showGuides="1">
      <p:cViewPr>
        <p:scale>
          <a:sx n="90" d="100"/>
          <a:sy n="90" d="100"/>
        </p:scale>
        <p:origin x="2196" y="522"/>
      </p:cViewPr>
      <p:guideLst>
        <p:guide orient="horz" pos="913"/>
        <p:guide pos="158"/>
        <p:guide orient="horz" pos="4088"/>
        <p:guide orient="horz" pos="1230"/>
        <p:guide pos="5602"/>
        <p:guide pos="2699"/>
        <p:guide pos="30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-3774" y="-78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397B6-49B3-423E-AFF4-3B89BA7A12DB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5F09D-C347-43F5-A420-20947A82F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5F09D-C347-43F5-A420-20947A82FB8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58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0826" y="4329100"/>
            <a:ext cx="8642349" cy="276999"/>
          </a:xfrm>
        </p:spPr>
        <p:txBody>
          <a:bodyPr lIns="0" tIns="0" rIns="0" bIns="0">
            <a:spAutoFit/>
          </a:bodyPr>
          <a:lstStyle>
            <a:lvl1pPr marL="0" indent="0" algn="l" latinLnBrk="0">
              <a:buNone/>
              <a:defRPr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err="1"/>
              <a:t>필요시</a:t>
            </a:r>
            <a:r>
              <a:rPr lang="ko-KR" altLang="en-US" dirty="0"/>
              <a:t> 부제목을 입력하세요</a:t>
            </a:r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321309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46607" y="4779441"/>
            <a:ext cx="8645525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="1"/>
            </a:lvl1pPr>
          </a:lstStyle>
          <a:p>
            <a:pPr lvl="0"/>
            <a:r>
              <a:rPr lang="ko-KR" altLang="en-US" dirty="0"/>
              <a:t>작성자 또는 작성 조직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5199003"/>
            <a:ext cx="8642350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516" y="5697252"/>
            <a:ext cx="1962184" cy="40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9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309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2660" y="3014954"/>
            <a:ext cx="4018680" cy="82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5" y="1952625"/>
            <a:ext cx="8642350" cy="450056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449388"/>
            <a:ext cx="8642350" cy="503237"/>
          </a:xfrm>
        </p:spPr>
        <p:txBody>
          <a:bodyPr lIns="0" tIns="0" rIns="0" bIns="0">
            <a:noAutofit/>
          </a:bodyPr>
          <a:lstStyle>
            <a:lvl1pPr marL="0" indent="0" latinLnBrk="0">
              <a:spcBef>
                <a:spcPts val="0"/>
              </a:spcBef>
              <a:buFontTx/>
              <a:buNone/>
              <a:defRPr sz="1800" b="1"/>
            </a:lvl1pPr>
            <a:lvl2pPr marL="0" indent="0" latinLnBrk="0">
              <a:spcBef>
                <a:spcPts val="0"/>
              </a:spcBef>
              <a:buFontTx/>
              <a:buNone/>
              <a:defRPr sz="1000" baseline="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Sub Message</a:t>
            </a:r>
            <a:endParaRPr lang="ko-KR" altLang="en-US" dirty="0"/>
          </a:p>
          <a:p>
            <a:pPr lvl="1"/>
            <a:r>
              <a:rPr lang="en-US" altLang="ko-KR" dirty="0"/>
              <a:t>%, </a:t>
            </a:r>
            <a:r>
              <a:rPr lang="ko-KR" altLang="en-US" dirty="0"/>
              <a:t>억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ko-KR"/>
              <a:t>source :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8323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vmlDrawing" Target="../drawings/vmlDrawing1.vml"/><Relationship Id="rId11" Type="http://schemas.openxmlformats.org/officeDocument/2006/relationships/image" Target="../media/image2.jpeg"/><Relationship Id="rId5" Type="http://schemas.openxmlformats.org/officeDocument/2006/relationships/theme" Target="../theme/theme1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개체 9" hidden="1"/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63761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55" name="think-cell Slide" r:id="rId9" imgW="346" imgH="346" progId="TCLayout.ActiveDocument.1">
                  <p:embed/>
                </p:oleObj>
              </mc:Choice>
              <mc:Fallback>
                <p:oleObj name="think-cell Slide" r:id="rId9" imgW="346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ko-KR" altLang="en-US" sz="2800" b="1" i="0" baseline="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0825" y="116905"/>
            <a:ext cx="8642350" cy="4317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dirty="0"/>
              <a:t>Main Message – </a:t>
            </a:r>
            <a:r>
              <a:rPr lang="ko-KR" altLang="en-US" dirty="0"/>
              <a:t>최대한 </a:t>
            </a:r>
            <a:r>
              <a:rPr lang="en-US" altLang="ko-KR" dirty="0"/>
              <a:t>2</a:t>
            </a:r>
            <a:r>
              <a:rPr lang="ko-KR" altLang="en-US" dirty="0"/>
              <a:t>줄을 넘기지 않습니다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0826" y="1952625"/>
            <a:ext cx="8642349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50825" y="6524625"/>
            <a:ext cx="7309507" cy="33337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source :</a:t>
            </a:r>
            <a:endParaRPr lang="ko-KR" alt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8723680" y="6638438"/>
            <a:ext cx="1875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67054FA2-9C49-47C4-A6D0-43871DB2589C}" type="slidenum">
              <a:rPr lang="ko-KR" altLang="en-US" sz="1200" b="1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166" y="6596744"/>
            <a:ext cx="1040701" cy="2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7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67" r:id="rId4"/>
  </p:sldLayoutIdLst>
  <p:hf sldNum="0" hdr="0" dt="0"/>
  <p:txStyles>
    <p:titleStyle>
      <a:lvl1pPr algn="l" defTabSz="914400" rtl="0" eaLnBrk="1" latinLnBrk="0" hangingPunct="1">
        <a:spcBef>
          <a:spcPts val="600"/>
        </a:spcBef>
        <a:buNone/>
        <a:defRPr sz="2800" b="1" kern="1200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73050" indent="-273050" algn="l" defTabSz="914400" rtl="0" eaLnBrk="1" latinLnBrk="0" hangingPunct="1">
        <a:spcBef>
          <a:spcPts val="600"/>
        </a:spcBef>
        <a:buClr>
          <a:srgbClr val="9B1717"/>
        </a:buClr>
        <a:buSzPct val="100000"/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ts val="6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5.xml"/><Relationship Id="rId7" Type="http://schemas.openxmlformats.org/officeDocument/2006/relationships/image" Target="NUL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69951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82" name="think-cell Slide" r:id="rId6" imgW="348" imgH="348" progId="TCLayout.ActiveDocument.1">
                  <p:embed/>
                </p:oleObj>
              </mc:Choice>
              <mc:Fallback>
                <p:oleObj name="think-cell Slide" r:id="rId6" imgW="348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grpSp>
        <p:nvGrpSpPr>
          <p:cNvPr id="22" name="그룹 21"/>
          <p:cNvGrpSpPr/>
          <p:nvPr/>
        </p:nvGrpSpPr>
        <p:grpSpPr>
          <a:xfrm>
            <a:off x="-508" y="-27384"/>
            <a:ext cx="9145016" cy="3240361"/>
            <a:chOff x="-508" y="-27384"/>
            <a:chExt cx="9145016" cy="3240361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508" y="0"/>
              <a:ext cx="4571450" cy="321297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70941" y="0"/>
              <a:ext cx="4573567" cy="3212977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/>
          </p:nvCxnSpPr>
          <p:spPr>
            <a:xfrm>
              <a:off x="4570941" y="-27384"/>
              <a:ext cx="0" cy="32403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ko-KR" altLang="en-US" sz="28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246607" y="3320988"/>
            <a:ext cx="8642349" cy="553998"/>
          </a:xfrm>
        </p:spPr>
        <p:txBody>
          <a:bodyPr vert="horz" anchor="ctr"/>
          <a:lstStyle/>
          <a:p>
            <a:r>
              <a:rPr lang="ko-KR" altLang="en-US" dirty="0" err="1"/>
              <a:t>챌린지</a:t>
            </a:r>
            <a:r>
              <a:rPr lang="ko-KR" altLang="en-US" dirty="0"/>
              <a:t> 학습 잘 시키는 </a:t>
            </a:r>
            <a:r>
              <a:rPr lang="en-US" altLang="ko-KR" dirty="0"/>
              <a:t>EM</a:t>
            </a:r>
            <a:r>
              <a:rPr lang="ko-KR" altLang="en-US" dirty="0"/>
              <a:t> 콜 피드백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46607" y="4329100"/>
            <a:ext cx="8642349" cy="276999"/>
          </a:xfrm>
        </p:spPr>
        <p:txBody>
          <a:bodyPr/>
          <a:lstStyle/>
          <a:p>
            <a:r>
              <a:rPr lang="ko-KR" altLang="en-US"/>
              <a:t>센터 </a:t>
            </a:r>
            <a:r>
              <a:rPr lang="ko-KR" altLang="en-US" dirty="0" err="1"/>
              <a:t>학습회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246607" y="4779440"/>
            <a:ext cx="8645525" cy="246221"/>
          </a:xfrm>
        </p:spPr>
        <p:txBody>
          <a:bodyPr/>
          <a:lstStyle/>
          <a:p>
            <a:r>
              <a:rPr lang="ko-KR" altLang="en-US"/>
              <a:t>파트너스사업부문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>
          <a:xfrm>
            <a:off x="246607" y="5199003"/>
            <a:ext cx="8642350" cy="246221"/>
          </a:xfrm>
        </p:spPr>
        <p:txBody>
          <a:bodyPr/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2026. 8</a:t>
            </a:r>
            <a:r>
              <a:rPr lang="en-US" altLang="ko-KR" dirty="0"/>
              <a:t>. 12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0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40ECF-6A54-40FB-A23B-F45CF232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센터 관리 역량 </a:t>
            </a:r>
            <a:r>
              <a:rPr lang="en-US" altLang="ko-KR" dirty="0"/>
              <a:t>= EM </a:t>
            </a:r>
            <a:r>
              <a:rPr lang="ko-KR" altLang="en-US" dirty="0"/>
              <a:t>콜 피드백 품질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916509-1EA5-40F3-AB91-00B7FB976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90" y="2047682"/>
            <a:ext cx="604921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1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4D2A5-5F56-4111-94FF-6F0685A4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</a:t>
            </a:r>
            <a:r>
              <a:rPr lang="en-US" altLang="ko-KR" dirty="0"/>
              <a:t>#1 : </a:t>
            </a:r>
            <a:r>
              <a:rPr lang="ko-KR" altLang="en-US" dirty="0"/>
              <a:t>거절을 거절로 알아듣지 못하는지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4A198D-6087-46D5-986D-0CA974D45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16" y="1371313"/>
            <a:ext cx="711616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0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06C40-AEC1-4BAD-8332-E4089243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</a:t>
            </a:r>
            <a:r>
              <a:rPr lang="en-US" altLang="ko-KR" dirty="0"/>
              <a:t>#2 : </a:t>
            </a:r>
            <a:r>
              <a:rPr lang="ko-KR" altLang="en-US" dirty="0"/>
              <a:t>잘못된 방식으로 설득하는 건 아닌지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3DAEC9-9511-4481-BC1E-0243629B9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32" y="647312"/>
            <a:ext cx="6344535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5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08A95-ACDC-4F9D-86BE-BB312676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계속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C02E64-6588-4F1E-892A-EF732808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47" y="1390365"/>
            <a:ext cx="7201905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0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E51F7-5884-4678-8F4E-24EE6B72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</a:t>
            </a:r>
            <a:r>
              <a:rPr lang="en-US" altLang="ko-KR" dirty="0"/>
              <a:t>#3 : </a:t>
            </a:r>
            <a:r>
              <a:rPr lang="ko-KR" altLang="en-US" dirty="0"/>
              <a:t>필요한 거절처리 숙달됐는지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75F5DA-C4E6-498C-A3F5-B9328B18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232" y="790206"/>
            <a:ext cx="6163535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2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F6C50-3209-47C9-948D-3A80A201F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CAD01A-130E-4C00-986B-4702B03D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803758"/>
            <a:ext cx="5760640" cy="568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4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9CDBB-C23F-4795-BB15-F91CCEEC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</a:t>
            </a:r>
            <a:r>
              <a:rPr lang="en-US" altLang="ko-KR" dirty="0"/>
              <a:t>#4 : </a:t>
            </a:r>
            <a:r>
              <a:rPr lang="ko-KR" altLang="en-US" dirty="0"/>
              <a:t>학습 설득 스크립트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4D5A2D-8F38-4723-836E-525091B28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02" y="707560"/>
            <a:ext cx="6388396" cy="544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D7CE1-CBC9-44DC-A541-D68516C7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0A5282-3882-47F9-BFEF-089FE8283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26" y="872716"/>
            <a:ext cx="6367348" cy="54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3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A70D3-4F86-4235-865C-B360E824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계속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BB6275-74B5-4034-805C-5093CCBC6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1114102"/>
            <a:ext cx="709711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4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CBD9B-7A30-4894-AC47-3D756521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설득 잘하는 </a:t>
            </a:r>
            <a:r>
              <a:rPr lang="en-US" altLang="ko-KR" dirty="0"/>
              <a:t>EM, </a:t>
            </a:r>
            <a:r>
              <a:rPr lang="ko-KR" altLang="en-US" dirty="0"/>
              <a:t>못하는 </a:t>
            </a:r>
            <a:r>
              <a:rPr lang="en-US" altLang="ko-KR" dirty="0"/>
              <a:t>EM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A3898B-6D8F-438B-BD1F-15186DB03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0091"/>
            <a:ext cx="9144000" cy="401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DA334-B9B1-4DDE-AB2C-F98F295B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설득 못하는 </a:t>
            </a:r>
            <a:r>
              <a:rPr lang="en-US" altLang="ko-KR" dirty="0"/>
              <a:t>EM </a:t>
            </a:r>
            <a:r>
              <a:rPr lang="ko-KR" altLang="en-US" dirty="0"/>
              <a:t>특징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9BDC13-026B-4C35-9826-0DB65A1D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28" y="826639"/>
            <a:ext cx="6201544" cy="520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1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7D962-F126-497D-A090-FA21FD35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계속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E61370-8A17-450A-BB98-B782110D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52" y="766391"/>
            <a:ext cx="7306695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93407-53A8-4990-B8E2-BB5FD85B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설득 잘하는 </a:t>
            </a:r>
            <a:r>
              <a:rPr lang="en-US" altLang="ko-KR" dirty="0"/>
              <a:t>EM </a:t>
            </a:r>
            <a:r>
              <a:rPr lang="ko-KR" altLang="en-US" dirty="0"/>
              <a:t>특징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EC6B5A-F999-4436-9B0F-404EC0C17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99" y="728700"/>
            <a:ext cx="5024002" cy="561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72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00475-5BAA-4D39-8B79-7A3BF53A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설득 </a:t>
            </a:r>
            <a:r>
              <a:rPr lang="ko-KR" altLang="en-US"/>
              <a:t>잘하는 </a:t>
            </a:r>
            <a:r>
              <a:rPr lang="en-US" altLang="ko-KR" dirty="0"/>
              <a:t>EM </a:t>
            </a:r>
            <a:r>
              <a:rPr lang="ko-KR" altLang="en-US" dirty="0"/>
              <a:t>특징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036A0B-F4D2-46F6-9382-85043C4A1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74" y="1866682"/>
            <a:ext cx="6277851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5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B0171-2E67-40B7-9FAD-4F928E8F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 </a:t>
            </a:r>
            <a:r>
              <a:rPr lang="ko-KR" altLang="en-US" dirty="0" err="1"/>
              <a:t>인별</a:t>
            </a:r>
            <a:r>
              <a:rPr lang="ko-KR" altLang="en-US" dirty="0"/>
              <a:t> 평가 점수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58A530-C324-459D-8179-DD70D0BD0D67}"/>
              </a:ext>
            </a:extLst>
          </p:cNvPr>
          <p:cNvSpPr/>
          <p:nvPr/>
        </p:nvSpPr>
        <p:spPr>
          <a:xfrm>
            <a:off x="250825" y="1449388"/>
            <a:ext cx="8642350" cy="5040312"/>
          </a:xfrm>
          <a:prstGeom prst="rect">
            <a:avLst/>
          </a:prstGeom>
          <a:solidFill>
            <a:srgbClr val="EFEEE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 hangingPunct="0"/>
            <a:r>
              <a:rPr lang="ko-KR" alt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별도 엑셀 파일 참조</a:t>
            </a:r>
            <a:endParaRPr lang="ko-KR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7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05242-1633-4D5C-A0D6-FF16C047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센터 역량 </a:t>
            </a:r>
            <a:r>
              <a:rPr lang="en-US" altLang="ko-KR" dirty="0"/>
              <a:t>= </a:t>
            </a:r>
            <a:r>
              <a:rPr lang="ko-KR" altLang="en-US" dirty="0"/>
              <a:t>코칭 통한 </a:t>
            </a:r>
            <a:r>
              <a:rPr lang="en-US" altLang="ko-KR" dirty="0"/>
              <a:t>EM </a:t>
            </a:r>
            <a:r>
              <a:rPr lang="ko-KR" altLang="en-US" dirty="0"/>
              <a:t>역량 개선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E02466-71FB-4F20-BCEE-19AE59976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68" y="728700"/>
            <a:ext cx="7259063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71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625" name="think-cell Slide" r:id="rId4" imgW="129" imgH="129" progId="TCLayout.ActiveDocument.1">
                  <p:embed/>
                </p:oleObj>
              </mc:Choice>
              <mc:Fallback>
                <p:oleObj name="think-cell Slide" r:id="rId4" imgW="129" imgH="1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9722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1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4.07053676289411203726E+00&quot;&gt;&lt;m_msothmcolidx val=&quot;0&quot;/&gt;&lt;m_rgb r=&quot;9B&quot; g=&quot;17&quot; b=&quot;17&quot;/&gt;&lt;/elem&gt;&lt;elem m_fUsage=&quot;2.58865955565597793964E+00&quot;&gt;&lt;m_msothmcolidx val=&quot;0&quot;/&gt;&lt;m_rgb r=&quot;36&quot; g=&quot;40&quot; b=&quot;86&quot;/&gt;&lt;/elem&gt;&lt;elem m_fUsage=&quot;2.43076075927111245889E+00&quot;&gt;&lt;m_msothmcolidx val=&quot;0&quot;/&gt;&lt;m_rgb r=&quot;AD&quot; g=&quot;AB&quot; b=&quot;A1&quot;/&gt;&lt;/elem&gt;&lt;elem m_fUsage=&quot;9.00012704234747773491E-01&quot;&gt;&lt;m_msothmcolidx val=&quot;0&quot;/&gt;&lt;m_rgb r=&quot;36&quot; g=&quot;36&quot; b=&quot;86&quot;/&gt;&lt;/elem&gt;&lt;elem m_fUsage=&quot;9.99867514964374905218E-03&quot;&gt;&lt;m_msothmcolidx val=&quot;0&quot;/&gt;&lt;m_rgb r=&quot;85&quot; g=&quot;82&quot; b=&quot;74&quot;/&gt;&lt;/elem&gt;&lt;elem m_fUsage=&quot;3.15427944087724853998E-05&quot;&gt;&lt;m_msothmcolidx val=&quot;0&quot;/&gt;&lt;m_rgb r=&quot;77&quot; g=&quot;82&quot; b=&quot;42&quot;/&gt;&lt;/elem&gt;&lt;elem m_fUsage=&quot;1.95193582091147094602E-27&quot;&gt;&lt;m_msothmcolidx val=&quot;0&quot;/&gt;&lt;m_rgb r=&quot;99&quot; g=&quot;12&quot; b=&quot;0B&quot;/&gt;&lt;/elem&gt;&lt;elem m_fUsage=&quot;2.07356765989321972675E-28&quot;&gt;&lt;m_msothmcolidx val=&quot;0&quot;/&gt;&lt;m_rgb r=&quot;9A&quot; g=&quot;9A&quot; b=&quot;8B&quot;/&gt;&lt;/elem&gt;&lt;elem m_fUsage=&quot;1.02914838008686877561E-31&quot;&gt;&lt;m_msothmcolidx val=&quot;0&quot;/&gt;&lt;m_rgb r=&quot;FC&quot; g=&quot;A2&quot; b=&quot;48&quot;/&gt;&lt;/elem&gt;&lt;elem m_fUsage=&quot;6.56923466476046165579E-37&quot;&gt;&lt;m_msothmcolidx val=&quot;0&quot;/&gt;&lt;m_rgb r=&quot;62&quot; g=&quot;80&quot; b=&quot;4D&quot;/&gt;&lt;/elem&gt;&lt;elem m_fUsage=&quot;3.10225074927927955845E-51&quot;&gt;&lt;m_msothmcolidx val=&quot;0&quot;/&gt;&lt;m_rgb r=&quot;09&quot; g=&quot;1C&quot; b=&quot;5A&quot;/&gt;&lt;/elem&gt;&lt;elem m_fUsage=&quot;6.56928553197104453962E-52&quot;&gt;&lt;m_msothmcolidx val=&quot;0&quot;/&gt;&lt;m_rgb r=&quot;EF&quot; g=&quot;EC&quot; b=&quot;EC&quot;/&gt;&lt;/elem&gt;&lt;elem m_fUsage=&quot;7.62462083286968687397E-53&quot;&gt;&lt;m_msothmcolidx val=&quot;0&quot;/&gt;&lt;m_rgb r=&quot;4E&quot; g=&quot;0C&quot; b=&quot;0C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S2V2SFsx.OHf7uSNR8Z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mB9dGMhMeWtuZulMRKy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itz Golden Template by Bhumj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FEEEC"/>
        </a:solidFill>
        <a:ln w="3175">
          <a:noFill/>
        </a:ln>
      </a:spPr>
      <a:bodyPr lIns="0" tIns="0" rIns="0" bIns="0" rtlCol="0" anchor="ctr"/>
      <a:lstStyle>
        <a:defPPr algn="ctr" eaLnBrk="0" latinLnBrk="0" hangingPunct="0">
          <a:defRPr sz="11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176008</TotalTime>
  <Words>94</Words>
  <Application>Microsoft Office PowerPoint</Application>
  <PresentationFormat>화면 슬라이드 쇼(4:3)</PresentationFormat>
  <Paragraphs>22</Paragraphs>
  <Slides>18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Wingdings</vt:lpstr>
      <vt:lpstr>Meritz Golden Template by Bhumjin</vt:lpstr>
      <vt:lpstr>think-cell Slide</vt:lpstr>
      <vt:lpstr>챌린지 학습 잘 시키는 EM 콜 피드백</vt:lpstr>
      <vt:lpstr>센터 관리 역량 = EM 콜 피드백 품질</vt:lpstr>
      <vt:lpstr>핵심 #1 : 거절을 거절로 알아듣지 못하는지</vt:lpstr>
      <vt:lpstr>핵심 #2 : 잘못된 방식으로 설득하는 건 아닌지</vt:lpstr>
      <vt:lpstr>계속</vt:lpstr>
      <vt:lpstr>핵심 #3 : 필요한 거절처리 숙달됐는지</vt:lpstr>
      <vt:lpstr>계속</vt:lpstr>
      <vt:lpstr>핵심 #4 : 학습 설득 스크립트</vt:lpstr>
      <vt:lpstr>계속</vt:lpstr>
      <vt:lpstr>계속</vt:lpstr>
      <vt:lpstr>설득 잘하는 EM, 못하는 EM</vt:lpstr>
      <vt:lpstr>설득 못하는 EM 특징</vt:lpstr>
      <vt:lpstr>계속</vt:lpstr>
      <vt:lpstr>설득 잘하는 EM 특징</vt:lpstr>
      <vt:lpstr>설득 잘하는 EM 특징</vt:lpstr>
      <vt:lpstr>EM 인별 평가 점수</vt:lpstr>
      <vt:lpstr>센터 역량 = 코칭 통한 EM 역량 개선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4113</cp:revision>
  <cp:lastPrinted>2025-06-26T00:51:27Z</cp:lastPrinted>
  <dcterms:created xsi:type="dcterms:W3CDTF">2015-11-22T03:54:56Z</dcterms:created>
  <dcterms:modified xsi:type="dcterms:W3CDTF">2026-08-12T01:31:20Z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eyJub2RlMSI6eyJkc2QiOiIwMTAwMDAwMDAwMDAyNzYzIiwibG9nVGltZSI6IjIwMjQtMTItMjBUMDQ6MDk6NDBaIiwicElEIjoxLCJ0cmFjZUlkIjoiRDlFRENFQTQyNDdDNEM5NUJDODBCOUJFNTY5QTcyRTgiLCJ1c2VyQ29kZSI6IjExMjI5MTUxMiJ9LCJub2RlMiI6eyJkc2QiOiIwMTAwMDAwMDAwMDAyNzYzIiwibG9nVGltZSI6IjI</vt:lpwstr>
  </property>
  <property fmtid="{D5CDD505-2E9C-101B-9397-08002B2CF9AE}" pid="3" name="FDRClass">
    <vt:lpwstr>0</vt:lpwstr>
  </property>
  <property fmtid="{D5CDD505-2E9C-101B-9397-08002B2CF9AE}" pid="4" name="FDRSet">
    <vt:lpwstr>manual</vt:lpwstr>
  </property>
</Properties>
</file>